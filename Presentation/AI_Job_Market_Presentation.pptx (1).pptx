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mbria Bold" charset="1" panose="02040803050406030204"/>
      <p:regular r:id="rId26"/>
    </p:embeddedFont>
    <p:embeddedFont>
      <p:font typeface="Calibri (MS)" charset="1" panose="020F0502020204030204"/>
      <p:regular r:id="rId27"/>
    </p:embeddedFont>
    <p:embeddedFont>
      <p:font typeface="Calibri (MS) Bold" charset="1" panose="020F0702030404030204"/>
      <p:regular r:id="rId28"/>
    </p:embeddedFont>
    <p:embeddedFont>
      <p:font typeface="Canva Sans" charset="1" panose="020B05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https://drive.google.com/file/d/1V_7vvNvOev_SRx3WcBw-mIBtwn9S0BmR/view?usp=sharing" TargetMode="External" Type="http://schemas.openxmlformats.org/officeDocument/2006/relationships/hyperlink"/><Relationship Id="rId6" Target="https://colab.research.google.com/drive/1fyRLsjo1XYJj72zKm5FAi6tKl8ovFu8b?usp=sharing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01752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155F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27054" y="-1657826"/>
            <a:ext cx="6881812" cy="6881812"/>
            <a:chOff x="0" y="0"/>
            <a:chExt cx="9175750" cy="9175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75750" cy="9175750"/>
            </a:xfrm>
            <a:custGeom>
              <a:avLst/>
              <a:gdLst/>
              <a:ahLst/>
              <a:cxnLst/>
              <a:rect r="r" b="b" t="t" l="l"/>
              <a:pathLst>
                <a:path h="9175750" w="9175750">
                  <a:moveTo>
                    <a:pt x="0" y="4587875"/>
                  </a:moveTo>
                  <a:cubicBezTo>
                    <a:pt x="0" y="2054098"/>
                    <a:pt x="2054098" y="0"/>
                    <a:pt x="4587875" y="0"/>
                  </a:cubicBezTo>
                  <a:cubicBezTo>
                    <a:pt x="7121652" y="0"/>
                    <a:pt x="9175750" y="2054098"/>
                    <a:pt x="9175750" y="4587875"/>
                  </a:cubicBezTo>
                  <a:cubicBezTo>
                    <a:pt x="9175750" y="7121652"/>
                    <a:pt x="7121652" y="9175750"/>
                    <a:pt x="4587875" y="9175750"/>
                  </a:cubicBezTo>
                  <a:cubicBezTo>
                    <a:pt x="2054098" y="9175750"/>
                    <a:pt x="0" y="7121652"/>
                    <a:pt x="0" y="458787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3FA79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624334" y="-560546"/>
            <a:ext cx="4687253" cy="4687253"/>
            <a:chOff x="0" y="0"/>
            <a:chExt cx="6249670" cy="6249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49670" cy="6249670"/>
            </a:xfrm>
            <a:custGeom>
              <a:avLst/>
              <a:gdLst/>
              <a:ahLst/>
              <a:cxnLst/>
              <a:rect r="r" b="b" t="t" l="l"/>
              <a:pathLst>
                <a:path h="6249670" w="6249670">
                  <a:moveTo>
                    <a:pt x="0" y="3124835"/>
                  </a:moveTo>
                  <a:cubicBezTo>
                    <a:pt x="0" y="1399032"/>
                    <a:pt x="1399032" y="0"/>
                    <a:pt x="3124835" y="0"/>
                  </a:cubicBezTo>
                  <a:cubicBezTo>
                    <a:pt x="4850638" y="0"/>
                    <a:pt x="6249670" y="1399032"/>
                    <a:pt x="6249670" y="3124835"/>
                  </a:cubicBezTo>
                  <a:cubicBezTo>
                    <a:pt x="6249670" y="4850638"/>
                    <a:pt x="4850638" y="6249670"/>
                    <a:pt x="3124835" y="6249670"/>
                  </a:cubicBezTo>
                  <a:cubicBezTo>
                    <a:pt x="1399032" y="6249670"/>
                    <a:pt x="0" y="4850638"/>
                    <a:pt x="0" y="312483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8FBCB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3497580"/>
            <a:ext cx="14401800" cy="1783080"/>
            <a:chOff x="0" y="0"/>
            <a:chExt cx="19202400" cy="2377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920240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b="true" sz="8100" spc="1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JOB MARKET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3020" y="4869180"/>
            <a:ext cx="13030200" cy="822960"/>
            <a:chOff x="0" y="0"/>
            <a:chExt cx="173736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373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Data-Driven Analysis of Global AI Hiring Trends, Salaries &amp; Skills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3020" y="5966460"/>
            <a:ext cx="754380" cy="82296"/>
            <a:chOff x="0" y="0"/>
            <a:chExt cx="1005840" cy="1097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109728"/>
            </a:xfrm>
            <a:custGeom>
              <a:avLst/>
              <a:gdLst/>
              <a:ahLst/>
              <a:cxnLst/>
              <a:rect r="r" b="b" t="t" l="l"/>
              <a:pathLst>
                <a:path h="109728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24915" y="6848475"/>
            <a:ext cx="8934450" cy="2556510"/>
            <a:chOff x="0" y="0"/>
            <a:chExt cx="11912600" cy="3408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12600" cy="3408680"/>
            </a:xfrm>
            <a:custGeom>
              <a:avLst/>
              <a:gdLst/>
              <a:ahLst/>
              <a:cxnLst/>
              <a:rect r="r" b="b" t="t" l="l"/>
              <a:pathLst>
                <a:path h="3408680" w="1191260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11728323" y="0"/>
                  </a:lnTo>
                  <a:cubicBezTo>
                    <a:pt x="11830050" y="0"/>
                    <a:pt x="11912600" y="82550"/>
                    <a:pt x="11912600" y="184277"/>
                  </a:cubicBezTo>
                  <a:lnTo>
                    <a:pt x="11912600" y="3224403"/>
                  </a:lnTo>
                  <a:cubicBezTo>
                    <a:pt x="11912600" y="3326130"/>
                    <a:pt x="11830050" y="3408680"/>
                    <a:pt x="11728323" y="3408680"/>
                  </a:cubicBezTo>
                  <a:lnTo>
                    <a:pt x="184277" y="3408680"/>
                  </a:lnTo>
                  <a:cubicBezTo>
                    <a:pt x="82550" y="3408680"/>
                    <a:pt x="0" y="3326130"/>
                    <a:pt x="0" y="3224403"/>
                  </a:cubicBezTo>
                  <a:close/>
                </a:path>
              </a:pathLst>
            </a:custGeom>
            <a:solidFill>
              <a:srgbClr val="155F5E"/>
            </a:solidFill>
            <a:ln w="19050" cap="sq">
              <a:solidFill>
                <a:srgbClr val="1F737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577340" y="7050024"/>
            <a:ext cx="5486400" cy="411480"/>
            <a:chOff x="0" y="0"/>
            <a:chExt cx="73152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315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PREPARED BY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77340" y="7461504"/>
            <a:ext cx="8229600" cy="548640"/>
            <a:chOff x="0" y="0"/>
            <a:chExt cx="109728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Noran Hatem   •   Aya Ayman   •   Dalia Khaled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77340" y="8010144"/>
            <a:ext cx="8229600" cy="548640"/>
            <a:chOff x="0" y="0"/>
            <a:chExt cx="109728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Ziad Ashraf   •   Kirolos Ibrahim   •   Arwa Ahmed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77340" y="8709660"/>
            <a:ext cx="8229600" cy="480060"/>
            <a:chOff x="0" y="0"/>
            <a:chExt cx="109728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FEA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by: Eng. Dina Mohsen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841980" y="1028700"/>
            <a:ext cx="1783080" cy="1783080"/>
            <a:chOff x="0" y="0"/>
            <a:chExt cx="2377440" cy="2377440"/>
          </a:xfrm>
        </p:grpSpPr>
        <p:sp>
          <p:nvSpPr>
            <p:cNvPr name="Freeform 31" id="31" descr="icon_robot.png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2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" y="9669780"/>
            <a:ext cx="6858000" cy="411480"/>
            <a:chOff x="0" y="0"/>
            <a:chExt cx="91440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144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25">
                  <a:solidFill>
                    <a:srgbClr val="8FC9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 ·  SQL  ·  Power BI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We'll Walk Through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527935"/>
            <a:ext cx="5299710" cy="2145030"/>
            <a:chOff x="0" y="0"/>
            <a:chExt cx="7066280" cy="2860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743200"/>
            <a:ext cx="1645920" cy="685800"/>
            <a:chOff x="0" y="0"/>
            <a:chExt cx="219456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470148"/>
            <a:ext cx="4732020" cy="548640"/>
            <a:chOff x="0" y="0"/>
            <a:chExt cx="63093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Introduction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3977640"/>
            <a:ext cx="4732020" cy="576072"/>
            <a:chOff x="0" y="0"/>
            <a:chExt cx="6309360" cy="7680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Goals and problem framing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74155" y="2527935"/>
            <a:ext cx="5299710" cy="2145030"/>
            <a:chOff x="0" y="0"/>
            <a:chExt cx="7066280" cy="2860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858000" y="2743200"/>
            <a:ext cx="1645920" cy="685800"/>
            <a:chOff x="0" y="0"/>
            <a:chExt cx="219456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58000" y="3470148"/>
            <a:ext cx="4732020" cy="548640"/>
            <a:chOff x="0" y="0"/>
            <a:chExt cx="63093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58000" y="3977640"/>
            <a:ext cx="4732020" cy="576072"/>
            <a:chOff x="0" y="0"/>
            <a:chExt cx="6309360" cy="7680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Scope, fields and coverage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197715" y="2527935"/>
            <a:ext cx="5299710" cy="2145030"/>
            <a:chOff x="0" y="0"/>
            <a:chExt cx="7066280" cy="2860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481560" y="2743200"/>
            <a:ext cx="1645920" cy="685800"/>
            <a:chOff x="0" y="0"/>
            <a:chExt cx="219456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481560" y="3470148"/>
            <a:ext cx="4732020" cy="548640"/>
            <a:chOff x="0" y="0"/>
            <a:chExt cx="63093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Workflow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481560" y="3977640"/>
            <a:ext cx="4732020" cy="576072"/>
            <a:chOff x="0" y="0"/>
            <a:chExt cx="6309360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Exploration, cleaning, validation, visualization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595" y="4996815"/>
            <a:ext cx="5299710" cy="2145030"/>
            <a:chOff x="0" y="0"/>
            <a:chExt cx="7066280" cy="2860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34440" y="5212080"/>
            <a:ext cx="1645920" cy="685800"/>
            <a:chOff x="0" y="0"/>
            <a:chExt cx="219456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34440" y="5939028"/>
            <a:ext cx="4732020" cy="548640"/>
            <a:chOff x="0" y="0"/>
            <a:chExt cx="63093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Analysis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34440" y="6446520"/>
            <a:ext cx="4732020" cy="576072"/>
            <a:chOff x="0" y="0"/>
            <a:chExt cx="6309360" cy="7680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Techniques and business questions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574155" y="4996815"/>
            <a:ext cx="5299710" cy="2145030"/>
            <a:chOff x="0" y="0"/>
            <a:chExt cx="7066280" cy="2860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858000" y="5212080"/>
            <a:ext cx="1645920" cy="685800"/>
            <a:chOff x="0" y="0"/>
            <a:chExt cx="219456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858000" y="5939028"/>
            <a:ext cx="4732020" cy="548640"/>
            <a:chOff x="0" y="0"/>
            <a:chExt cx="630936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BI Dashboards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858000" y="6446520"/>
            <a:ext cx="4732020" cy="576072"/>
            <a:chOff x="0" y="0"/>
            <a:chExt cx="6309360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Objectives, audiences, KPIs &amp; DAX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197715" y="4996815"/>
            <a:ext cx="5299710" cy="2145030"/>
            <a:chOff x="0" y="0"/>
            <a:chExt cx="7066280" cy="28600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481560" y="5212080"/>
            <a:ext cx="1645920" cy="685800"/>
            <a:chOff x="0" y="0"/>
            <a:chExt cx="219456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481560" y="5939028"/>
            <a:ext cx="4732020" cy="548640"/>
            <a:chOff x="0" y="0"/>
            <a:chExt cx="630936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Insights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481560" y="6446520"/>
            <a:ext cx="4732020" cy="576072"/>
            <a:chOff x="0" y="0"/>
            <a:chExt cx="6309360" cy="7680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findings &amp; business conclusions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0595" y="7465695"/>
            <a:ext cx="5299710" cy="2145030"/>
            <a:chOff x="0" y="0"/>
            <a:chExt cx="7066280" cy="28600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234440" y="7680960"/>
            <a:ext cx="1645920" cy="685800"/>
            <a:chOff x="0" y="0"/>
            <a:chExt cx="219456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07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34440" y="8407908"/>
            <a:ext cx="4732020" cy="548640"/>
            <a:chOff x="0" y="0"/>
            <a:chExt cx="630936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Deliverables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34440" y="8915400"/>
            <a:ext cx="4732020" cy="576072"/>
            <a:chOff x="0" y="0"/>
            <a:chExt cx="6309360" cy="7680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repository structure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—  INTRODUCE THE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116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Understanding the Global AI Job Market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400300"/>
            <a:ext cx="9052560" cy="2743200"/>
            <a:chOff x="0" y="0"/>
            <a:chExt cx="12070080" cy="365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00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2070080" cy="3762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rapid growth of Artificial Intelligence has reshaped the global job market — creating new roles, shifting required skill sets, and driving significant salary premiums. This project analyzes a global AI job-postings dataset end-to-end, moving from raw data to a clean analytical dataset, structured SQL analysis, and interactive Power BI dashboards.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5417820"/>
            <a:ext cx="9052560" cy="3497580"/>
            <a:chOff x="0" y="0"/>
            <a:chExt cx="12070080" cy="466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00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2070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923776" y="0"/>
                  </a:lnTo>
                  <a:cubicBezTo>
                    <a:pt x="12004548" y="0"/>
                    <a:pt x="12070080" y="65532"/>
                    <a:pt x="12070080" y="146304"/>
                  </a:cubicBezTo>
                  <a:lnTo>
                    <a:pt x="12070080" y="4517136"/>
                  </a:lnTo>
                  <a:cubicBezTo>
                    <a:pt x="12070080" y="4597908"/>
                    <a:pt x="12004548" y="4663440"/>
                    <a:pt x="1192377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886700" y="5623560"/>
            <a:ext cx="850392" cy="850392"/>
            <a:chOff x="0" y="0"/>
            <a:chExt cx="1133856" cy="1133856"/>
          </a:xfrm>
        </p:grpSpPr>
        <p:sp>
          <p:nvSpPr>
            <p:cNvPr name="Freeform 14" id="14" descr="icon_bulb.png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5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600" y="5760720"/>
            <a:ext cx="6309360" cy="411480"/>
            <a:chOff x="0" y="0"/>
            <a:chExt cx="841248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12480" cy="548640"/>
            </a:xfrm>
            <a:custGeom>
              <a:avLst/>
              <a:gdLst/>
              <a:ahLst/>
              <a:cxnLst/>
              <a:rect r="r" b="b" t="t" l="l"/>
              <a:pathLst>
                <a:path h="54864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4124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GOAL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6240780"/>
            <a:ext cx="8092440" cy="2468880"/>
            <a:chOff x="0" y="0"/>
            <a:chExt cx="10789920" cy="3291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899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67" r="0" b="-1386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10789920" cy="3406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DDE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Explore, clean and analyze global AI job postings to uncover patterns in roles, salaries, required skills and market demand — then translate those patterns into decision-ready dashboards for job seekers, recruiters and analysts.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51795" y="2390775"/>
            <a:ext cx="6739890" cy="1363218"/>
            <a:chOff x="0" y="0"/>
            <a:chExt cx="8986520" cy="18176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86520" cy="1817624"/>
            </a:xfrm>
            <a:custGeom>
              <a:avLst/>
              <a:gdLst/>
              <a:ahLst/>
              <a:cxnLst/>
              <a:rect r="r" b="b" t="t" l="l"/>
              <a:pathLst>
                <a:path h="1817624" w="89865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8838184" y="0"/>
                  </a:lnTo>
                  <a:cubicBezTo>
                    <a:pt x="8920099" y="0"/>
                    <a:pt x="8986520" y="66421"/>
                    <a:pt x="8986520" y="148336"/>
                  </a:cubicBezTo>
                  <a:lnTo>
                    <a:pt x="8986520" y="1669288"/>
                  </a:lnTo>
                  <a:cubicBezTo>
                    <a:pt x="8986520" y="1751203"/>
                    <a:pt x="8920099" y="1817624"/>
                    <a:pt x="8838184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904220" y="2770632"/>
            <a:ext cx="603504" cy="603504"/>
            <a:chOff x="0" y="0"/>
            <a:chExt cx="804672" cy="8046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727180" y="2729484"/>
            <a:ext cx="5349240" cy="685800"/>
            <a:chOff x="0" y="0"/>
            <a:chExt cx="713232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71323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Roles &amp; Categories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551795" y="4009263"/>
            <a:ext cx="6739890" cy="1363218"/>
            <a:chOff x="0" y="0"/>
            <a:chExt cx="8986520" cy="18176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986520" cy="1817624"/>
            </a:xfrm>
            <a:custGeom>
              <a:avLst/>
              <a:gdLst/>
              <a:ahLst/>
              <a:cxnLst/>
              <a:rect r="r" b="b" t="t" l="l"/>
              <a:pathLst>
                <a:path h="1817624" w="89865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8838184" y="0"/>
                  </a:lnTo>
                  <a:cubicBezTo>
                    <a:pt x="8920099" y="0"/>
                    <a:pt x="8986520" y="66421"/>
                    <a:pt x="8986520" y="148336"/>
                  </a:cubicBezTo>
                  <a:lnTo>
                    <a:pt x="8986520" y="1669288"/>
                  </a:lnTo>
                  <a:cubicBezTo>
                    <a:pt x="8986520" y="1751203"/>
                    <a:pt x="8920099" y="1817624"/>
                    <a:pt x="8838184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904220" y="4389120"/>
            <a:ext cx="603504" cy="603504"/>
            <a:chOff x="0" y="0"/>
            <a:chExt cx="804672" cy="8046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8FBCB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727180" y="4347972"/>
            <a:ext cx="5349240" cy="685800"/>
            <a:chOff x="0" y="0"/>
            <a:chExt cx="713232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1323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Salary &amp; Compensation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51795" y="5627751"/>
            <a:ext cx="6739890" cy="1363218"/>
            <a:chOff x="0" y="0"/>
            <a:chExt cx="8986520" cy="18176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86520" cy="1817624"/>
            </a:xfrm>
            <a:custGeom>
              <a:avLst/>
              <a:gdLst/>
              <a:ahLst/>
              <a:cxnLst/>
              <a:rect r="r" b="b" t="t" l="l"/>
              <a:pathLst>
                <a:path h="1817624" w="89865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8838184" y="0"/>
                  </a:lnTo>
                  <a:cubicBezTo>
                    <a:pt x="8920099" y="0"/>
                    <a:pt x="8986520" y="66421"/>
                    <a:pt x="8986520" y="148336"/>
                  </a:cubicBezTo>
                  <a:lnTo>
                    <a:pt x="8986520" y="1669288"/>
                  </a:lnTo>
                  <a:cubicBezTo>
                    <a:pt x="8986520" y="1751203"/>
                    <a:pt x="8920099" y="1817624"/>
                    <a:pt x="8838184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904220" y="6007608"/>
            <a:ext cx="603504" cy="603504"/>
            <a:chOff x="0" y="0"/>
            <a:chExt cx="804672" cy="8046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1B6B6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727180" y="5966460"/>
            <a:ext cx="5349240" cy="685800"/>
            <a:chOff x="0" y="0"/>
            <a:chExt cx="713232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71323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Skills &amp; Requirements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551795" y="7246239"/>
            <a:ext cx="6739890" cy="1363218"/>
            <a:chOff x="0" y="0"/>
            <a:chExt cx="8986520" cy="18176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86520" cy="1817624"/>
            </a:xfrm>
            <a:custGeom>
              <a:avLst/>
              <a:gdLst/>
              <a:ahLst/>
              <a:cxnLst/>
              <a:rect r="r" b="b" t="t" l="l"/>
              <a:pathLst>
                <a:path h="1817624" w="89865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8838184" y="0"/>
                  </a:lnTo>
                  <a:cubicBezTo>
                    <a:pt x="8920099" y="0"/>
                    <a:pt x="8986520" y="66421"/>
                    <a:pt x="8986520" y="148336"/>
                  </a:cubicBezTo>
                  <a:lnTo>
                    <a:pt x="8986520" y="1669288"/>
                  </a:lnTo>
                  <a:cubicBezTo>
                    <a:pt x="8986520" y="1751203"/>
                    <a:pt x="8920099" y="1817624"/>
                    <a:pt x="8838184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904220" y="7626096"/>
            <a:ext cx="603504" cy="603504"/>
            <a:chOff x="0" y="0"/>
            <a:chExt cx="804672" cy="8046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727180" y="7584948"/>
            <a:ext cx="5349240" cy="685800"/>
            <a:chOff x="0" y="0"/>
            <a:chExt cx="713232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71323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Demand &amp; Market Trends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—  INTRODUCE THE DATASET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Global AI Jobs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537460"/>
            <a:ext cx="3909060" cy="1851660"/>
            <a:chOff x="0" y="0"/>
            <a:chExt cx="5212080" cy="2468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702052"/>
            <a:ext cx="3909060" cy="960120"/>
            <a:chOff x="0" y="0"/>
            <a:chExt cx="521208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212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1,500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3703320"/>
            <a:ext cx="3909060" cy="548640"/>
            <a:chOff x="0" y="0"/>
            <a:chExt cx="521208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 Postings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16068" y="2537460"/>
            <a:ext cx="3909060" cy="1851660"/>
            <a:chOff x="0" y="0"/>
            <a:chExt cx="5212080" cy="2468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116068" y="2702052"/>
            <a:ext cx="3909060" cy="960120"/>
            <a:chOff x="0" y="0"/>
            <a:chExt cx="521208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212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37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16068" y="3703320"/>
            <a:ext cx="3909060" cy="548640"/>
            <a:chOff x="0" y="0"/>
            <a:chExt cx="52120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Fields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72016" y="2537460"/>
            <a:ext cx="3909060" cy="1851660"/>
            <a:chOff x="0" y="0"/>
            <a:chExt cx="5212080" cy="2468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72016" y="2702052"/>
            <a:ext cx="3909060" cy="960120"/>
            <a:chOff x="0" y="0"/>
            <a:chExt cx="521208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212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272016" y="3703320"/>
            <a:ext cx="3909060" cy="548640"/>
            <a:chOff x="0" y="0"/>
            <a:chExt cx="521208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Distinct AI Job Titles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427964" y="2537460"/>
            <a:ext cx="3909060" cy="1851660"/>
            <a:chOff x="0" y="0"/>
            <a:chExt cx="5212080" cy="2468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427964" y="2702052"/>
            <a:ext cx="3909060" cy="960120"/>
            <a:chOff x="0" y="0"/>
            <a:chExt cx="521208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212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427964" y="3703320"/>
            <a:ext cx="3909060" cy="548640"/>
            <a:chOff x="0" y="0"/>
            <a:chExt cx="521208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 Categories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120" y="4869180"/>
            <a:ext cx="6858000" cy="411480"/>
            <a:chOff x="0" y="0"/>
            <a:chExt cx="91440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5E75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DATA FIELDS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0595" y="5408295"/>
            <a:ext cx="8042910" cy="1870710"/>
            <a:chOff x="0" y="0"/>
            <a:chExt cx="10723880" cy="2494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3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723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576052" y="0"/>
                  </a:lnTo>
                  <a:cubicBezTo>
                    <a:pt x="10657713" y="0"/>
                    <a:pt x="10723880" y="66167"/>
                    <a:pt x="10723880" y="147828"/>
                  </a:cubicBezTo>
                  <a:lnTo>
                    <a:pt x="10723880" y="2346452"/>
                  </a:lnTo>
                  <a:cubicBezTo>
                    <a:pt x="10723880" y="2428113"/>
                    <a:pt x="10657713" y="2494280"/>
                    <a:pt x="105760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03020" y="5623560"/>
            <a:ext cx="7338060" cy="480060"/>
            <a:chOff x="0" y="0"/>
            <a:chExt cx="978408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9784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Details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03020" y="6172200"/>
            <a:ext cx="7338060" cy="987552"/>
            <a:chOff x="0" y="0"/>
            <a:chExt cx="9784080" cy="13167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84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84" r="0" b="-9478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9784080" cy="1383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job_title, job_category, experience_level, years_of_experience, education_required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17355" y="5408295"/>
            <a:ext cx="8042910" cy="1870710"/>
            <a:chOff x="0" y="0"/>
            <a:chExt cx="10723880" cy="2494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23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723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576052" y="0"/>
                  </a:lnTo>
                  <a:cubicBezTo>
                    <a:pt x="10657713" y="0"/>
                    <a:pt x="10723880" y="66167"/>
                    <a:pt x="10723880" y="147828"/>
                  </a:cubicBezTo>
                  <a:lnTo>
                    <a:pt x="10723880" y="2346452"/>
                  </a:lnTo>
                  <a:cubicBezTo>
                    <a:pt x="10723880" y="2428113"/>
                    <a:pt x="10657713" y="2494280"/>
                    <a:pt x="105760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669780" y="5623560"/>
            <a:ext cx="7338060" cy="480060"/>
            <a:chOff x="0" y="0"/>
            <a:chExt cx="9784080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784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Compensation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69780" y="6172200"/>
            <a:ext cx="7338060" cy="987552"/>
            <a:chOff x="0" y="0"/>
            <a:chExt cx="9784080" cy="13167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84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84" r="0" b="-9478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784080" cy="1383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annual_salary_usd, salary_min/max_usd, ai_salary_premium_pct, salary_tier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0595" y="7534275"/>
            <a:ext cx="8042910" cy="1870710"/>
            <a:chOff x="0" y="0"/>
            <a:chExt cx="10723880" cy="2494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23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723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576052" y="0"/>
                  </a:lnTo>
                  <a:cubicBezTo>
                    <a:pt x="10657713" y="0"/>
                    <a:pt x="10723880" y="66167"/>
                    <a:pt x="10723880" y="147828"/>
                  </a:cubicBezTo>
                  <a:lnTo>
                    <a:pt x="10723880" y="2346452"/>
                  </a:lnTo>
                  <a:cubicBezTo>
                    <a:pt x="10723880" y="2428113"/>
                    <a:pt x="10657713" y="2494280"/>
                    <a:pt x="105760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03020" y="7749540"/>
            <a:ext cx="7338060" cy="480060"/>
            <a:chOff x="0" y="0"/>
            <a:chExt cx="9784080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9784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 &amp; Setup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03020" y="8298180"/>
            <a:ext cx="7338060" cy="987552"/>
            <a:chOff x="0" y="0"/>
            <a:chExt cx="9784080" cy="13167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784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84" r="0" b="-9478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9784080" cy="1383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city, country, remote_work, company_size, industry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317355" y="7534275"/>
            <a:ext cx="8042910" cy="1870710"/>
            <a:chOff x="0" y="0"/>
            <a:chExt cx="10723880" cy="2494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723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723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576052" y="0"/>
                  </a:lnTo>
                  <a:cubicBezTo>
                    <a:pt x="10657713" y="0"/>
                    <a:pt x="10723880" y="66167"/>
                    <a:pt x="10723880" y="147828"/>
                  </a:cubicBezTo>
                  <a:lnTo>
                    <a:pt x="10723880" y="2346452"/>
                  </a:lnTo>
                  <a:cubicBezTo>
                    <a:pt x="10723880" y="2428113"/>
                    <a:pt x="10657713" y="2494280"/>
                    <a:pt x="105760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669780" y="7749540"/>
            <a:ext cx="7338060" cy="480060"/>
            <a:chOff x="0" y="0"/>
            <a:chExt cx="978408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784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Skills &amp; Demand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69780" y="8298180"/>
            <a:ext cx="7338060" cy="987552"/>
            <a:chOff x="0" y="0"/>
            <a:chExt cx="9784080" cy="131673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84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84" r="0" b="-9478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9784080" cy="1383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required_skills, skill_count, demand_score, demand_growth_yoy_pct, is_llm_role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—  PYTHON WORK (COLAB)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Raw Data to Analysis-Ready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16341090" cy="773430"/>
            <a:chOff x="0" y="0"/>
            <a:chExt cx="21788120" cy="1031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88120" cy="1031240"/>
            </a:xfrm>
            <a:custGeom>
              <a:avLst/>
              <a:gdLst/>
              <a:ahLst/>
              <a:cxnLst/>
              <a:rect r="r" b="b" t="t" l="l"/>
              <a:pathLst>
                <a:path h="1031240" w="21788120">
                  <a:moveTo>
                    <a:pt x="0" y="131191"/>
                  </a:moveTo>
                  <a:cubicBezTo>
                    <a:pt x="0" y="58801"/>
                    <a:pt x="58801" y="0"/>
                    <a:pt x="131191" y="0"/>
                  </a:cubicBezTo>
                  <a:lnTo>
                    <a:pt x="21656929" y="0"/>
                  </a:lnTo>
                  <a:cubicBezTo>
                    <a:pt x="21729446" y="0"/>
                    <a:pt x="21788120" y="58801"/>
                    <a:pt x="21788120" y="131191"/>
                  </a:cubicBezTo>
                  <a:lnTo>
                    <a:pt x="21788120" y="900049"/>
                  </a:lnTo>
                  <a:cubicBezTo>
                    <a:pt x="21788120" y="972566"/>
                    <a:pt x="21729319" y="1031240"/>
                    <a:pt x="21656929" y="1031240"/>
                  </a:cubicBezTo>
                  <a:lnTo>
                    <a:pt x="131191" y="1031240"/>
                  </a:lnTo>
                  <a:cubicBezTo>
                    <a:pt x="58801" y="1031240"/>
                    <a:pt x="0" y="972439"/>
                    <a:pt x="0" y="900049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400300"/>
            <a:ext cx="480060" cy="480060"/>
            <a:chOff x="0" y="0"/>
            <a:chExt cx="640080" cy="640080"/>
          </a:xfrm>
        </p:grpSpPr>
        <p:sp>
          <p:nvSpPr>
            <p:cNvPr name="Freeform 11" id="11" descr="icon_python_dark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51660" y="2263140"/>
            <a:ext cx="8366760" cy="754380"/>
            <a:chOff x="0" y="0"/>
            <a:chExt cx="1115568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55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106" r="0" b="-16610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1556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Notebook:</a:t>
              </a:r>
              <a:r>
                <a:rPr lang="en-US" b="true" sz="1875" u="sng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5" tooltip="https://drive.google.com/file/d/1V_7vvNvOev_SRx3WcBw-mIBtwn9S0BmR/view?usp=sharing"/>
                </a:rPr>
                <a:t> ai_jobs_global_processed.ipynb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3497580"/>
            <a:ext cx="3977640" cy="5349240"/>
            <a:chOff x="0" y="0"/>
            <a:chExt cx="5303520" cy="7132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035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6986016"/>
                  </a:lnTo>
                  <a:cubicBezTo>
                    <a:pt x="5303520" y="7066788"/>
                    <a:pt x="5237988" y="7132320"/>
                    <a:pt x="5157216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3020" y="3909060"/>
            <a:ext cx="754380" cy="754380"/>
            <a:chOff x="0" y="0"/>
            <a:chExt cx="100584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3909060"/>
            <a:ext cx="754380" cy="754380"/>
            <a:chOff x="0" y="0"/>
            <a:chExt cx="10058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03020" y="4937760"/>
            <a:ext cx="3291840" cy="1028700"/>
            <a:chOff x="0" y="0"/>
            <a:chExt cx="438912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43891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Exploration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3020" y="6035040"/>
            <a:ext cx="3291840" cy="2606040"/>
            <a:chOff x="0" y="0"/>
            <a:chExt cx="4389120" cy="3474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891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573" t="0" r="-5157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4389120" cy="3541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Loaded the dataset in Pandas and inspected shape, columns, data types, and initial structure to understand the raw data.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16068" y="3497580"/>
            <a:ext cx="3977640" cy="5349240"/>
            <a:chOff x="0" y="0"/>
            <a:chExt cx="5303520" cy="7132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035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6986016"/>
                  </a:lnTo>
                  <a:cubicBezTo>
                    <a:pt x="5303520" y="7066788"/>
                    <a:pt x="5237988" y="7132320"/>
                    <a:pt x="5157216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458968" y="3909060"/>
            <a:ext cx="754380" cy="754380"/>
            <a:chOff x="0" y="0"/>
            <a:chExt cx="10058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8FBCB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458968" y="3909060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58968" y="4937760"/>
            <a:ext cx="3291840" cy="1028700"/>
            <a:chOff x="0" y="0"/>
            <a:chExt cx="438912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3891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Cleaning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58968" y="6035040"/>
            <a:ext cx="3291840" cy="2606040"/>
            <a:chOff x="0" y="0"/>
            <a:chExt cx="4389120" cy="3474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891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573" t="0" r="-5157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4389120" cy="3541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Removed whitespace, standardized missing-like values, checked duplicates, and converted date columns into proper formats.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72016" y="3497580"/>
            <a:ext cx="3977640" cy="5349240"/>
            <a:chOff x="0" y="0"/>
            <a:chExt cx="5303520" cy="71323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035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6986016"/>
                  </a:lnTo>
                  <a:cubicBezTo>
                    <a:pt x="5303520" y="7066788"/>
                    <a:pt x="5237988" y="7132320"/>
                    <a:pt x="5157216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614916" y="3909060"/>
            <a:ext cx="754380" cy="754380"/>
            <a:chOff x="0" y="0"/>
            <a:chExt cx="100584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6B6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14916" y="3909060"/>
            <a:ext cx="754380" cy="754380"/>
            <a:chOff x="0" y="0"/>
            <a:chExt cx="10058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14916" y="4937760"/>
            <a:ext cx="3291840" cy="1028700"/>
            <a:chOff x="0" y="0"/>
            <a:chExt cx="4389120" cy="1371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43891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Validation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14916" y="6035040"/>
            <a:ext cx="3291840" cy="2606040"/>
            <a:chOff x="0" y="0"/>
            <a:chExt cx="4389120" cy="3474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3891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573" t="0" r="-5157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4389120" cy="3541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Validated numeric ranges, categorical consistency, salary logic, binary indicator fields and detected outliers using IQR &amp; Z-score.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427964" y="3497580"/>
            <a:ext cx="3977640" cy="5349240"/>
            <a:chOff x="0" y="0"/>
            <a:chExt cx="5303520" cy="71323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035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6986016"/>
                  </a:lnTo>
                  <a:cubicBezTo>
                    <a:pt x="5303520" y="7066788"/>
                    <a:pt x="5237988" y="7132320"/>
                    <a:pt x="5157216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770864" y="3909060"/>
            <a:ext cx="754380" cy="754380"/>
            <a:chOff x="0" y="0"/>
            <a:chExt cx="1005840" cy="1005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770864" y="3909060"/>
            <a:ext cx="754380" cy="754380"/>
            <a:chOff x="0" y="0"/>
            <a:chExt cx="1005840" cy="1005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770864" y="4937760"/>
            <a:ext cx="3291840" cy="1028700"/>
            <a:chOff x="0" y="0"/>
            <a:chExt cx="4389120" cy="1371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43891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Visualization &amp; Feature Engineering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770864" y="6035040"/>
            <a:ext cx="3291840" cy="2606040"/>
            <a:chOff x="0" y="0"/>
            <a:chExt cx="4389120" cy="34747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891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573" t="0" r="-5157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4389120" cy="3541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Engineered features such as skill_count, salary_range_midpoint and posting_date, then profiled distributions to prepare the dataset for SQL and Power BI.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2505194" y="2434590"/>
            <a:ext cx="2653903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6" tooltip="https://colab.research.google.com/drive/1fyRLsjo1XYJj72zKm5FAi6tKl8ovFu8b?usp=sharing"/>
              </a:rPr>
              <a:t>open in google colab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—  SQL ANALYSIS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3990320" cy="960120"/>
            <a:chOff x="0" y="0"/>
            <a:chExt cx="1865376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6537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6537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Turning Data Into Business Answers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59200" y="1069848"/>
            <a:ext cx="850392" cy="850392"/>
            <a:chOff x="0" y="0"/>
            <a:chExt cx="1133856" cy="1133856"/>
          </a:xfrm>
        </p:grpSpPr>
        <p:sp>
          <p:nvSpPr>
            <p:cNvPr name="Freeform 9" id="9" descr="icon_database_dark.png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5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331720"/>
            <a:ext cx="16322040" cy="1028700"/>
            <a:chOff x="0" y="0"/>
            <a:chExt cx="2176272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162" r="0" b="-2591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1762720" cy="1466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Four SQL scripts were written against the cleaned dataset — one per dashboard — combining aggregate functions, GROUP BY, JOIN logic, CASE statements, subqueries and window-style analysis to answer 28 targeted business questions.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3497580"/>
            <a:ext cx="8229600" cy="411480"/>
            <a:chOff x="0" y="0"/>
            <a:chExt cx="109728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5E75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TECHNIQUES USED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0595" y="4036695"/>
            <a:ext cx="2652522" cy="1527810"/>
            <a:chOff x="0" y="0"/>
            <a:chExt cx="3536696" cy="2037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24712" y="4183380"/>
            <a:ext cx="2304288" cy="1234440"/>
            <a:chOff x="0" y="0"/>
            <a:chExt cx="3072384" cy="1645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Aggregate Functions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(COUNT, AVG, MIN, MAX)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62375" y="4036695"/>
            <a:ext cx="2652522" cy="1527810"/>
            <a:chOff x="0" y="0"/>
            <a:chExt cx="3536696" cy="2037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936492" y="4183380"/>
            <a:ext cx="2304288" cy="1234440"/>
            <a:chOff x="0" y="0"/>
            <a:chExt cx="3072384" cy="1645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 BY &amp; ORDER BY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ranking analysis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74155" y="4036695"/>
            <a:ext cx="2652522" cy="1527810"/>
            <a:chOff x="0" y="0"/>
            <a:chExt cx="3536696" cy="2037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748272" y="4183380"/>
            <a:ext cx="2304288" cy="1234440"/>
            <a:chOff x="0" y="0"/>
            <a:chExt cx="3072384" cy="1645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JOINs &amp; CASE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conditional logic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85935" y="4036695"/>
            <a:ext cx="2652522" cy="1527810"/>
            <a:chOff x="0" y="0"/>
            <a:chExt cx="3536696" cy="2037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560052" y="4183380"/>
            <a:ext cx="2304288" cy="1234440"/>
            <a:chOff x="0" y="0"/>
            <a:chExt cx="3072384" cy="1645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Subqueries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nested comparisons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197715" y="4036695"/>
            <a:ext cx="2652522" cy="1527810"/>
            <a:chOff x="0" y="0"/>
            <a:chExt cx="3536696" cy="2037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371832" y="4183380"/>
            <a:ext cx="2304288" cy="1234440"/>
            <a:chOff x="0" y="0"/>
            <a:chExt cx="3072384" cy="1645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STRING_SPLIT +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 APPLY for skills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009495" y="4036695"/>
            <a:ext cx="2652522" cy="1527810"/>
            <a:chOff x="0" y="0"/>
            <a:chExt cx="3536696" cy="2037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5183612" y="4183380"/>
            <a:ext cx="2304288" cy="1234440"/>
            <a:chOff x="0" y="0"/>
            <a:chExt cx="3072384" cy="16459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N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filtering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0120" y="5966460"/>
            <a:ext cx="8229600" cy="411480"/>
            <a:chOff x="0" y="0"/>
            <a:chExt cx="109728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5E75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FOUR SQL DASHBOARDS OF ANALYSIS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0120" y="6515100"/>
            <a:ext cx="3977640" cy="2537460"/>
            <a:chOff x="0" y="0"/>
            <a:chExt cx="5303520" cy="3383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035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3236976"/>
                  </a:lnTo>
                  <a:cubicBezTo>
                    <a:pt x="5303520" y="3317748"/>
                    <a:pt x="5237988" y="3383280"/>
                    <a:pt x="515721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34440" y="6761988"/>
            <a:ext cx="3429000" cy="411480"/>
            <a:chOff x="0" y="0"/>
            <a:chExt cx="45720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4572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5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1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34440" y="7200900"/>
            <a:ext cx="3429000" cy="1165860"/>
            <a:chOff x="0" y="0"/>
            <a:chExt cx="4572000" cy="15544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72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457200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Job Market Overview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34440" y="8503920"/>
            <a:ext cx="3429000" cy="411480"/>
            <a:chOff x="0" y="0"/>
            <a:chExt cx="45720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KPIs · 7 questions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184648" y="6515100"/>
            <a:ext cx="3977640" cy="2537460"/>
            <a:chOff x="0" y="0"/>
            <a:chExt cx="5303520" cy="3383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035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3236976"/>
                  </a:lnTo>
                  <a:cubicBezTo>
                    <a:pt x="5303520" y="3317748"/>
                    <a:pt x="5237988" y="3383280"/>
                    <a:pt x="515721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458968" y="6761988"/>
            <a:ext cx="3429000" cy="411480"/>
            <a:chOff x="0" y="0"/>
            <a:chExt cx="45720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4572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5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2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458968" y="7200900"/>
            <a:ext cx="3429000" cy="1165860"/>
            <a:chOff x="0" y="0"/>
            <a:chExt cx="4572000" cy="15544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572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457200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Salary &amp; Compensation Analysis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458968" y="8503920"/>
            <a:ext cx="3429000" cy="411480"/>
            <a:chOff x="0" y="0"/>
            <a:chExt cx="45720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KPIs · 7 questions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09176" y="6515100"/>
            <a:ext cx="3977640" cy="2537460"/>
            <a:chOff x="0" y="0"/>
            <a:chExt cx="5303520" cy="3383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035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3236976"/>
                  </a:lnTo>
                  <a:cubicBezTo>
                    <a:pt x="5303520" y="3317748"/>
                    <a:pt x="5237988" y="3383280"/>
                    <a:pt x="515721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683496" y="6761988"/>
            <a:ext cx="3429000" cy="411480"/>
            <a:chOff x="0" y="0"/>
            <a:chExt cx="45720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572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5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3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683496" y="7200900"/>
            <a:ext cx="3429000" cy="1165860"/>
            <a:chOff x="0" y="0"/>
            <a:chExt cx="4572000" cy="15544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572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457200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Skills &amp; Career Requirements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683496" y="8503920"/>
            <a:ext cx="3429000" cy="411480"/>
            <a:chOff x="0" y="0"/>
            <a:chExt cx="457200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KPIs · 7 questions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633704" y="6515100"/>
            <a:ext cx="3977640" cy="2537460"/>
            <a:chOff x="0" y="0"/>
            <a:chExt cx="5303520" cy="33832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035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3236976"/>
                  </a:lnTo>
                  <a:cubicBezTo>
                    <a:pt x="5303520" y="3317748"/>
                    <a:pt x="5237988" y="3383280"/>
                    <a:pt x="515721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908024" y="6761988"/>
            <a:ext cx="3429000" cy="411480"/>
            <a:chOff x="0" y="0"/>
            <a:chExt cx="457200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4572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5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4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908024" y="7200900"/>
            <a:ext cx="3429000" cy="1165860"/>
            <a:chOff x="0" y="0"/>
            <a:chExt cx="4572000" cy="15544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572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76200"/>
              <a:ext cx="457200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Job Demand &amp; Market Trends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908024" y="8503920"/>
            <a:ext cx="3429000" cy="411480"/>
            <a:chOff x="0" y="0"/>
            <a:chExt cx="4572000" cy="548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KPIs · 7 questions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822960" y="9704834"/>
            <a:ext cx="7528511" cy="376426"/>
            <a:chOff x="0" y="0"/>
            <a:chExt cx="10972800" cy="548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1  —  05. POWER BI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6322040" cy="891540"/>
            <a:chOff x="0" y="0"/>
            <a:chExt cx="2176272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Job Market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7700010" cy="2076450"/>
            <a:chOff x="0" y="0"/>
            <a:chExt cx="1026668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26668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118979" y="0"/>
                  </a:lnTo>
                  <a:cubicBezTo>
                    <a:pt x="10200513" y="0"/>
                    <a:pt x="10266680" y="66167"/>
                    <a:pt x="10266680" y="147701"/>
                  </a:cubicBezTo>
                  <a:lnTo>
                    <a:pt x="10266680" y="2620899"/>
                  </a:lnTo>
                  <a:cubicBezTo>
                    <a:pt x="10266680" y="2702433"/>
                    <a:pt x="10200513" y="2768600"/>
                    <a:pt x="1011897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441448"/>
            <a:ext cx="7132320" cy="384048"/>
            <a:chOff x="0" y="0"/>
            <a:chExt cx="950976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512064"/>
            </a:xfrm>
            <a:custGeom>
              <a:avLst/>
              <a:gdLst/>
              <a:ahLst/>
              <a:cxnLst/>
              <a:rect r="r" b="b" t="t" l="l"/>
              <a:pathLst>
                <a:path h="51206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097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2852928"/>
            <a:ext cx="7132320" cy="1371600"/>
            <a:chOff x="0" y="0"/>
            <a:chExt cx="950976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5097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 an overall view of the AI job market and identify major trends in job roles, categories, locations, industries and experience levels.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46820" y="2263140"/>
            <a:ext cx="8435340" cy="2057400"/>
            <a:chOff x="0" y="0"/>
            <a:chExt cx="1124712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7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24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00816" y="0"/>
                  </a:lnTo>
                  <a:cubicBezTo>
                    <a:pt x="11181588" y="0"/>
                    <a:pt x="11247120" y="65532"/>
                    <a:pt x="11247120" y="146304"/>
                  </a:cubicBezTo>
                  <a:lnTo>
                    <a:pt x="11247120" y="2596896"/>
                  </a:lnTo>
                  <a:cubicBezTo>
                    <a:pt x="11247120" y="2677668"/>
                    <a:pt x="11181588" y="2743200"/>
                    <a:pt x="111008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21140" y="2441448"/>
            <a:ext cx="7680960" cy="384048"/>
            <a:chOff x="0" y="0"/>
            <a:chExt cx="1024128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2412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AUDIENCE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21140" y="2948940"/>
            <a:ext cx="7818120" cy="822960"/>
            <a:chOff x="0" y="0"/>
            <a:chExt cx="1042416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4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4241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Seekers   •   Career Analysts   •   Recruiters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21140" y="3634740"/>
            <a:ext cx="7818120" cy="617220"/>
            <a:chOff x="0" y="0"/>
            <a:chExt cx="104241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24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4241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 KPIs: Total Job Postings · Total Job Roles · Total Job Categories · Average Annual Salary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0595" y="4585335"/>
            <a:ext cx="3928110" cy="1596390"/>
            <a:chOff x="0" y="0"/>
            <a:chExt cx="5237480" cy="2128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4732020"/>
            <a:ext cx="3497580" cy="822960"/>
            <a:chOff x="0" y="0"/>
            <a:chExt cx="46634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1,500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5860" y="5582412"/>
            <a:ext cx="3497580" cy="521208"/>
            <a:chOff x="0" y="0"/>
            <a:chExt cx="4663440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Job Postings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65395" y="4585335"/>
            <a:ext cx="3928110" cy="1596390"/>
            <a:chOff x="0" y="0"/>
            <a:chExt cx="5237480" cy="2128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280660" y="4732020"/>
            <a:ext cx="3497580" cy="822960"/>
            <a:chOff x="0" y="0"/>
            <a:chExt cx="46634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80660" y="5582412"/>
            <a:ext cx="3497580" cy="521208"/>
            <a:chOff x="0" y="0"/>
            <a:chExt cx="4663440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Job Roles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80195" y="4585335"/>
            <a:ext cx="3928110" cy="1596390"/>
            <a:chOff x="0" y="0"/>
            <a:chExt cx="5237480" cy="2128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95460" y="4732020"/>
            <a:ext cx="3497580" cy="822960"/>
            <a:chOff x="0" y="0"/>
            <a:chExt cx="46634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95460" y="5582412"/>
            <a:ext cx="3497580" cy="521208"/>
            <a:chOff x="0" y="0"/>
            <a:chExt cx="4663440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Job Categories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294995" y="4585335"/>
            <a:ext cx="3928110" cy="1596390"/>
            <a:chOff x="0" y="0"/>
            <a:chExt cx="5237480" cy="2128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510260" y="4732020"/>
            <a:ext cx="3497580" cy="822960"/>
            <a:chOff x="0" y="0"/>
            <a:chExt cx="466344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$194,892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10260" y="5582412"/>
            <a:ext cx="3497580" cy="521208"/>
            <a:chOff x="0" y="0"/>
            <a:chExt cx="4663440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Annual Salary</a:t>
              </a:r>
            </a:p>
          </p:txBody>
        </p:sp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5166" y="5671566"/>
            <a:ext cx="9299448" cy="5047488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44434" y="5644134"/>
            <a:ext cx="9628632" cy="5102352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703" y="4203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1  —  LIVE POWER BI 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14923"/>
            <a:ext cx="18147374" cy="9672077"/>
            <a:chOff x="0" y="0"/>
            <a:chExt cx="22913522" cy="12212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13524" cy="12212310"/>
            </a:xfrm>
            <a:custGeom>
              <a:avLst/>
              <a:gdLst/>
              <a:ahLst/>
              <a:cxnLst/>
              <a:rect r="r" b="b" t="t" l="l"/>
              <a:pathLst>
                <a:path h="12212310" w="22913524">
                  <a:moveTo>
                    <a:pt x="0" y="136903"/>
                  </a:moveTo>
                  <a:cubicBezTo>
                    <a:pt x="0" y="61267"/>
                    <a:pt x="51791" y="0"/>
                    <a:pt x="115729" y="0"/>
                  </a:cubicBezTo>
                  <a:lnTo>
                    <a:pt x="22797794" y="0"/>
                  </a:lnTo>
                  <a:cubicBezTo>
                    <a:pt x="22861733" y="0"/>
                    <a:pt x="22913524" y="61267"/>
                    <a:pt x="22913524" y="136903"/>
                  </a:cubicBezTo>
                  <a:lnTo>
                    <a:pt x="22913524" y="12075407"/>
                  </a:lnTo>
                  <a:cubicBezTo>
                    <a:pt x="22913524" y="12151043"/>
                    <a:pt x="22861733" y="12212310"/>
                    <a:pt x="22797794" y="12212310"/>
                  </a:cubicBezTo>
                  <a:lnTo>
                    <a:pt x="115729" y="12212310"/>
                  </a:lnTo>
                  <a:cubicBezTo>
                    <a:pt x="51791" y="12212310"/>
                    <a:pt x="0" y="12151043"/>
                    <a:pt x="0" y="12075407"/>
                  </a:cubicBezTo>
                  <a:close/>
                </a:path>
              </a:pathLst>
            </a:custGeom>
            <a:blipFill>
              <a:blip r:embed="rId4"/>
              <a:stretch>
                <a:fillRect l="0" t="-1853" r="0" b="-1853"/>
              </a:stretch>
            </a:blipFill>
            <a:ln w="28575" cap="sq">
              <a:solidFill>
                <a:srgbClr val="3FA79A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2  —  05. POWER BI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6322040" cy="891540"/>
            <a:chOff x="0" y="0"/>
            <a:chExt cx="2176272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Salary &amp; Compensation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7700010" cy="2076450"/>
            <a:chOff x="0" y="0"/>
            <a:chExt cx="1026668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26668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118979" y="0"/>
                  </a:lnTo>
                  <a:cubicBezTo>
                    <a:pt x="10200513" y="0"/>
                    <a:pt x="10266680" y="66167"/>
                    <a:pt x="10266680" y="147701"/>
                  </a:cubicBezTo>
                  <a:lnTo>
                    <a:pt x="10266680" y="2620899"/>
                  </a:lnTo>
                  <a:cubicBezTo>
                    <a:pt x="10266680" y="2702433"/>
                    <a:pt x="10200513" y="2768600"/>
                    <a:pt x="1011897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441448"/>
            <a:ext cx="7132320" cy="384048"/>
            <a:chOff x="0" y="0"/>
            <a:chExt cx="950976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512064"/>
            </a:xfrm>
            <a:custGeom>
              <a:avLst/>
              <a:gdLst/>
              <a:ahLst/>
              <a:cxnLst/>
              <a:rect r="r" b="b" t="t" l="l"/>
              <a:pathLst>
                <a:path h="51206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097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2852928"/>
            <a:ext cx="7132320" cy="1371600"/>
            <a:chOff x="0" y="0"/>
            <a:chExt cx="950976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5097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 salary patterns in the AI job market and understand how salary varies by job title, experience level, location, company size and work arrangement.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46820" y="2263140"/>
            <a:ext cx="8435340" cy="2057400"/>
            <a:chOff x="0" y="0"/>
            <a:chExt cx="1124712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7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24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00816" y="0"/>
                  </a:lnTo>
                  <a:cubicBezTo>
                    <a:pt x="11181588" y="0"/>
                    <a:pt x="11247120" y="65532"/>
                    <a:pt x="11247120" y="146304"/>
                  </a:cubicBezTo>
                  <a:lnTo>
                    <a:pt x="11247120" y="2596896"/>
                  </a:lnTo>
                  <a:cubicBezTo>
                    <a:pt x="11247120" y="2677668"/>
                    <a:pt x="11181588" y="2743200"/>
                    <a:pt x="111008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21140" y="2441448"/>
            <a:ext cx="7680960" cy="384048"/>
            <a:chOff x="0" y="0"/>
            <a:chExt cx="1024128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2412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AUDIENCE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21140" y="2948940"/>
            <a:ext cx="7818120" cy="822960"/>
            <a:chOff x="0" y="0"/>
            <a:chExt cx="1042416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4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4241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Seekers   •   HR Teams   •   Recruiters   •   Career Planners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21140" y="3634740"/>
            <a:ext cx="7818120" cy="617220"/>
            <a:chOff x="0" y="0"/>
            <a:chExt cx="104241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24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4241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 KPIs: Average Salary · Minimum Salary · Maximum Salary · Average AI Salary Premium 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0595" y="4585335"/>
            <a:ext cx="3928110" cy="1596390"/>
            <a:chOff x="0" y="0"/>
            <a:chExt cx="5237480" cy="2128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4732020"/>
            <a:ext cx="3497580" cy="822960"/>
            <a:chOff x="0" y="0"/>
            <a:chExt cx="46634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$194,892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5860" y="5582412"/>
            <a:ext cx="3497580" cy="521208"/>
            <a:chOff x="0" y="0"/>
            <a:chExt cx="4663440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Salary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65395" y="4585335"/>
            <a:ext cx="3928110" cy="1596390"/>
            <a:chOff x="0" y="0"/>
            <a:chExt cx="5237480" cy="2128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280660" y="4732020"/>
            <a:ext cx="3497580" cy="822960"/>
            <a:chOff x="0" y="0"/>
            <a:chExt cx="46634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$90,000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80660" y="5582412"/>
            <a:ext cx="3497580" cy="521208"/>
            <a:chOff x="0" y="0"/>
            <a:chExt cx="4663440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Minimum Salary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80195" y="4585335"/>
            <a:ext cx="3928110" cy="1596390"/>
            <a:chOff x="0" y="0"/>
            <a:chExt cx="5237480" cy="2128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95460" y="4732020"/>
            <a:ext cx="3497580" cy="822960"/>
            <a:chOff x="0" y="0"/>
            <a:chExt cx="46634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$320,000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95460" y="5582412"/>
            <a:ext cx="3497580" cy="521208"/>
            <a:chOff x="0" y="0"/>
            <a:chExt cx="4663440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Maximum Salary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294995" y="4585335"/>
            <a:ext cx="3928110" cy="1596390"/>
            <a:chOff x="0" y="0"/>
            <a:chExt cx="5237480" cy="2128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510260" y="4732020"/>
            <a:ext cx="3497580" cy="822960"/>
            <a:chOff x="0" y="0"/>
            <a:chExt cx="466344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10.86%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10260" y="5582412"/>
            <a:ext cx="3497580" cy="521208"/>
            <a:chOff x="0" y="0"/>
            <a:chExt cx="4663440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Avg. AI Salary Premium</a:t>
              </a:r>
            </a:p>
          </p:txBody>
        </p:sp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5166" y="5671566"/>
            <a:ext cx="9299448" cy="5047488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44434" y="5644134"/>
            <a:ext cx="9628632" cy="5102352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335" y="130521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2  —  LIVE POWER BI 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949" y="610581"/>
            <a:ext cx="17999827" cy="9887602"/>
            <a:chOff x="0" y="0"/>
            <a:chExt cx="21800820" cy="11975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00821" cy="11975550"/>
            </a:xfrm>
            <a:custGeom>
              <a:avLst/>
              <a:gdLst/>
              <a:ahLst/>
              <a:cxnLst/>
              <a:rect r="r" b="b" t="t" l="l"/>
              <a:pathLst>
                <a:path h="11975550" w="21800821">
                  <a:moveTo>
                    <a:pt x="0" y="134249"/>
                  </a:moveTo>
                  <a:cubicBezTo>
                    <a:pt x="0" y="60079"/>
                    <a:pt x="49276" y="0"/>
                    <a:pt x="110109" y="0"/>
                  </a:cubicBezTo>
                  <a:lnTo>
                    <a:pt x="21690712" y="0"/>
                  </a:lnTo>
                  <a:cubicBezTo>
                    <a:pt x="21751545" y="0"/>
                    <a:pt x="21800821" y="60079"/>
                    <a:pt x="21800821" y="134249"/>
                  </a:cubicBezTo>
                  <a:lnTo>
                    <a:pt x="21800821" y="11841301"/>
                  </a:lnTo>
                  <a:cubicBezTo>
                    <a:pt x="21800821" y="11915471"/>
                    <a:pt x="21751545" y="11975550"/>
                    <a:pt x="21690712" y="11975550"/>
                  </a:cubicBezTo>
                  <a:lnTo>
                    <a:pt x="110109" y="11975550"/>
                  </a:lnTo>
                  <a:cubicBezTo>
                    <a:pt x="49276" y="11975550"/>
                    <a:pt x="0" y="11915471"/>
                    <a:pt x="0" y="11841301"/>
                  </a:cubicBezTo>
                  <a:close/>
                </a:path>
              </a:pathLst>
            </a:custGeom>
            <a:blipFill>
              <a:blip r:embed="rId4"/>
              <a:stretch>
                <a:fillRect l="0" t="-641" r="0" b="-641"/>
              </a:stretch>
            </a:blipFill>
            <a:ln w="28575" cap="sq">
              <a:solidFill>
                <a:srgbClr val="8FBCB8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3  —  05. POWER BI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6322040" cy="891540"/>
            <a:chOff x="0" y="0"/>
            <a:chExt cx="2176272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Skills &amp; Career Requirements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7700010" cy="2076450"/>
            <a:chOff x="0" y="0"/>
            <a:chExt cx="1026668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26668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118979" y="0"/>
                  </a:lnTo>
                  <a:cubicBezTo>
                    <a:pt x="10200513" y="0"/>
                    <a:pt x="10266680" y="66167"/>
                    <a:pt x="10266680" y="147701"/>
                  </a:cubicBezTo>
                  <a:lnTo>
                    <a:pt x="10266680" y="2620899"/>
                  </a:lnTo>
                  <a:cubicBezTo>
                    <a:pt x="10266680" y="2702433"/>
                    <a:pt x="10200513" y="2768600"/>
                    <a:pt x="1011897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441448"/>
            <a:ext cx="7132320" cy="384048"/>
            <a:chOff x="0" y="0"/>
            <a:chExt cx="950976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512064"/>
            </a:xfrm>
            <a:custGeom>
              <a:avLst/>
              <a:gdLst/>
              <a:ahLst/>
              <a:cxnLst/>
              <a:rect r="r" b="b" t="t" l="l"/>
              <a:pathLst>
                <a:path h="51206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097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2852928"/>
            <a:ext cx="7132320" cy="1371600"/>
            <a:chOff x="0" y="0"/>
            <a:chExt cx="950976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5097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 the most demanded skills in the AI job market and understand how skill requirements vary across job roles, experience levels and salaries.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46820" y="2263140"/>
            <a:ext cx="8435340" cy="2057400"/>
            <a:chOff x="0" y="0"/>
            <a:chExt cx="1124712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7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24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00816" y="0"/>
                  </a:lnTo>
                  <a:cubicBezTo>
                    <a:pt x="11181588" y="0"/>
                    <a:pt x="11247120" y="65532"/>
                    <a:pt x="11247120" y="146304"/>
                  </a:cubicBezTo>
                  <a:lnTo>
                    <a:pt x="11247120" y="2596896"/>
                  </a:lnTo>
                  <a:cubicBezTo>
                    <a:pt x="11247120" y="2677668"/>
                    <a:pt x="11181588" y="2743200"/>
                    <a:pt x="111008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21140" y="2441448"/>
            <a:ext cx="7680960" cy="384048"/>
            <a:chOff x="0" y="0"/>
            <a:chExt cx="1024128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2412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AUDIENCE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21140" y="2948940"/>
            <a:ext cx="7818120" cy="822960"/>
            <a:chOff x="0" y="0"/>
            <a:chExt cx="1042416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4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4241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Seekers   •   Students   •   Career Planners   •   Recruiters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21140" y="3634740"/>
            <a:ext cx="7818120" cy="617220"/>
            <a:chOff x="0" y="0"/>
            <a:chExt cx="104241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24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4241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 KPIs: Average Skills per Job · Maximum Skills Required · Most In-Demand Skill · % Jobs with Specified Skills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0595" y="4585335"/>
            <a:ext cx="3928110" cy="1596390"/>
            <a:chOff x="0" y="0"/>
            <a:chExt cx="5237480" cy="2128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4732020"/>
            <a:ext cx="3497580" cy="822960"/>
            <a:chOff x="0" y="0"/>
            <a:chExt cx="46634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6.37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5860" y="5582412"/>
            <a:ext cx="3497580" cy="521208"/>
            <a:chOff x="0" y="0"/>
            <a:chExt cx="4663440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Skills per Job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65395" y="4585335"/>
            <a:ext cx="3928110" cy="1596390"/>
            <a:chOff x="0" y="0"/>
            <a:chExt cx="5237480" cy="2128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280660" y="4732020"/>
            <a:ext cx="3497580" cy="822960"/>
            <a:chOff x="0" y="0"/>
            <a:chExt cx="46634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80660" y="5582412"/>
            <a:ext cx="3497580" cy="521208"/>
            <a:chOff x="0" y="0"/>
            <a:chExt cx="4663440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Maximum Skills Required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80195" y="4585335"/>
            <a:ext cx="3928110" cy="1596390"/>
            <a:chOff x="0" y="0"/>
            <a:chExt cx="5237480" cy="2128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95460" y="4732020"/>
            <a:ext cx="3497580" cy="822960"/>
            <a:chOff x="0" y="0"/>
            <a:chExt cx="46634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Python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95460" y="5582412"/>
            <a:ext cx="3497580" cy="521208"/>
            <a:chOff x="0" y="0"/>
            <a:chExt cx="4663440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Most In-Demand Skill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294995" y="4585335"/>
            <a:ext cx="3928110" cy="1596390"/>
            <a:chOff x="0" y="0"/>
            <a:chExt cx="5237480" cy="2128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510260" y="4732020"/>
            <a:ext cx="3497580" cy="822960"/>
            <a:chOff x="0" y="0"/>
            <a:chExt cx="466344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100%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10260" y="5582412"/>
            <a:ext cx="3497580" cy="521208"/>
            <a:chOff x="0" y="0"/>
            <a:chExt cx="4663440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Jobs with Specified Skills</a:t>
              </a:r>
            </a:p>
          </p:txBody>
        </p:sp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5166" y="5671566"/>
            <a:ext cx="9299448" cy="5047488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44434" y="5644134"/>
            <a:ext cx="9628632" cy="5102352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716000" cy="612796"/>
            <a:chOff x="0" y="0"/>
            <a:chExt cx="18288000" cy="817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817062"/>
            </a:xfrm>
            <a:custGeom>
              <a:avLst/>
              <a:gdLst/>
              <a:ahLst/>
              <a:cxnLst/>
              <a:rect r="r" b="b" t="t" l="l"/>
              <a:pathLst>
                <a:path h="81706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17062"/>
                  </a:lnTo>
                  <a:lnTo>
                    <a:pt x="0" y="817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957" r="0" b="-37529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85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8FC9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3  —  LIVE POWER BI 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12796"/>
            <a:ext cx="18288000" cy="9684452"/>
            <a:chOff x="0" y="0"/>
            <a:chExt cx="23338805" cy="12359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38806" cy="12359117"/>
            </a:xfrm>
            <a:custGeom>
              <a:avLst/>
              <a:gdLst/>
              <a:ahLst/>
              <a:cxnLst/>
              <a:rect r="r" b="b" t="t" l="l"/>
              <a:pathLst>
                <a:path h="12359117" w="23338806">
                  <a:moveTo>
                    <a:pt x="0" y="138549"/>
                  </a:moveTo>
                  <a:cubicBezTo>
                    <a:pt x="0" y="62003"/>
                    <a:pt x="52752" y="0"/>
                    <a:pt x="117877" y="0"/>
                  </a:cubicBezTo>
                  <a:lnTo>
                    <a:pt x="23220928" y="0"/>
                  </a:lnTo>
                  <a:cubicBezTo>
                    <a:pt x="23286053" y="0"/>
                    <a:pt x="23338806" y="62003"/>
                    <a:pt x="23338806" y="138549"/>
                  </a:cubicBezTo>
                  <a:lnTo>
                    <a:pt x="23338806" y="12220569"/>
                  </a:lnTo>
                  <a:cubicBezTo>
                    <a:pt x="23338806" y="12297114"/>
                    <a:pt x="23286053" y="12359117"/>
                    <a:pt x="23220928" y="12359117"/>
                  </a:cubicBezTo>
                  <a:lnTo>
                    <a:pt x="117877" y="12359117"/>
                  </a:lnTo>
                  <a:cubicBezTo>
                    <a:pt x="52752" y="12359117"/>
                    <a:pt x="0" y="12297114"/>
                    <a:pt x="0" y="12220569"/>
                  </a:cubicBezTo>
                  <a:close/>
                </a:path>
              </a:pathLst>
            </a:custGeom>
            <a:blipFill>
              <a:blip r:embed="rId4"/>
              <a:stretch>
                <a:fillRect l="0" t="-4208" r="0" b="-4208"/>
              </a:stretch>
            </a:blipFill>
            <a:ln w="28575" cap="sq">
              <a:solidFill>
                <a:srgbClr val="1B6B66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4  —  05. Tableau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6322040" cy="891540"/>
            <a:chOff x="0" y="0"/>
            <a:chExt cx="2176272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Job Demand &amp; Market Trends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7700010" cy="2076450"/>
            <a:chOff x="0" y="0"/>
            <a:chExt cx="1026668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26668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118979" y="0"/>
                  </a:lnTo>
                  <a:cubicBezTo>
                    <a:pt x="10200513" y="0"/>
                    <a:pt x="10266680" y="66167"/>
                    <a:pt x="10266680" y="147701"/>
                  </a:cubicBezTo>
                  <a:lnTo>
                    <a:pt x="10266680" y="2620899"/>
                  </a:lnTo>
                  <a:cubicBezTo>
                    <a:pt x="10266680" y="2702433"/>
                    <a:pt x="10200513" y="2768600"/>
                    <a:pt x="1011897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441448"/>
            <a:ext cx="7132320" cy="384048"/>
            <a:chOff x="0" y="0"/>
            <a:chExt cx="950976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512064"/>
            </a:xfrm>
            <a:custGeom>
              <a:avLst/>
              <a:gdLst/>
              <a:ahLst/>
              <a:cxnLst/>
              <a:rect r="r" b="b" t="t" l="l"/>
              <a:pathLst>
                <a:path h="51206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097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2852928"/>
            <a:ext cx="7132320" cy="1371600"/>
            <a:chOff x="0" y="0"/>
            <a:chExt cx="950976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5097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 AI job demand and market trends across job roles, job categories, industries, countries and experience levels.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46820" y="2263140"/>
            <a:ext cx="8435340" cy="2057400"/>
            <a:chOff x="0" y="0"/>
            <a:chExt cx="1124712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7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24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00816" y="0"/>
                  </a:lnTo>
                  <a:cubicBezTo>
                    <a:pt x="11181588" y="0"/>
                    <a:pt x="11247120" y="65532"/>
                    <a:pt x="11247120" y="146304"/>
                  </a:cubicBezTo>
                  <a:lnTo>
                    <a:pt x="11247120" y="2596896"/>
                  </a:lnTo>
                  <a:cubicBezTo>
                    <a:pt x="11247120" y="2677668"/>
                    <a:pt x="11181588" y="2743200"/>
                    <a:pt x="111008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21140" y="2441448"/>
            <a:ext cx="7680960" cy="384048"/>
            <a:chOff x="0" y="0"/>
            <a:chExt cx="1024128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2412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AUDIENCE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21140" y="2948940"/>
            <a:ext cx="7818120" cy="822960"/>
            <a:chOff x="0" y="0"/>
            <a:chExt cx="1042416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4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4241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Seekers   •   Career Analysts   •   Recruiters   •   Market Analysts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21140" y="3634740"/>
            <a:ext cx="7818120" cy="617220"/>
            <a:chOff x="0" y="0"/>
            <a:chExt cx="104241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24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4241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 KPIs: Average Demand Score · Average Demand Growth % · Highest Demand Job Role · % LLM Roles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0595" y="4585335"/>
            <a:ext cx="3928110" cy="1596390"/>
            <a:chOff x="0" y="0"/>
            <a:chExt cx="5237480" cy="2128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4732020"/>
            <a:ext cx="3497580" cy="822960"/>
            <a:chOff x="0" y="0"/>
            <a:chExt cx="46634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87.5 / 100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5860" y="5582412"/>
            <a:ext cx="3497580" cy="521208"/>
            <a:chOff x="0" y="0"/>
            <a:chExt cx="4663440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Demand Score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65395" y="4585335"/>
            <a:ext cx="3928110" cy="1596390"/>
            <a:chOff x="0" y="0"/>
            <a:chExt cx="5237480" cy="2128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280660" y="4732020"/>
            <a:ext cx="3497580" cy="822960"/>
            <a:chOff x="0" y="0"/>
            <a:chExt cx="46634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31.1%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80660" y="5582412"/>
            <a:ext cx="3497580" cy="521208"/>
            <a:chOff x="0" y="0"/>
            <a:chExt cx="4663440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Demand Growth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80195" y="4585335"/>
            <a:ext cx="3928110" cy="1596390"/>
            <a:chOff x="0" y="0"/>
            <a:chExt cx="5237480" cy="2128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95460" y="4732020"/>
            <a:ext cx="3497580" cy="822960"/>
            <a:chOff x="0" y="0"/>
            <a:chExt cx="46634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LLM Engineer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95460" y="5582412"/>
            <a:ext cx="3497580" cy="521208"/>
            <a:chOff x="0" y="0"/>
            <a:chExt cx="4663440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Highest Demand Role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294995" y="4585335"/>
            <a:ext cx="3928110" cy="1596390"/>
            <a:chOff x="0" y="0"/>
            <a:chExt cx="5237480" cy="2128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510260" y="4732020"/>
            <a:ext cx="3497580" cy="822960"/>
            <a:chOff x="0" y="0"/>
            <a:chExt cx="466344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21.8%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10260" y="5582412"/>
            <a:ext cx="3497580" cy="521208"/>
            <a:chOff x="0" y="0"/>
            <a:chExt cx="4663440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LLM-Related Roles</a:t>
              </a:r>
            </a:p>
          </p:txBody>
        </p:sp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5166" y="5671566"/>
            <a:ext cx="9299448" cy="5047488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44434" y="5644134"/>
            <a:ext cx="9628632" cy="5102352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293" y="241134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4  —  LIVE Tableau 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438" y="1278566"/>
            <a:ext cx="18111124" cy="8802694"/>
            <a:chOff x="0" y="0"/>
            <a:chExt cx="21800820" cy="105960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00821" cy="10596025"/>
            </a:xfrm>
            <a:custGeom>
              <a:avLst/>
              <a:gdLst/>
              <a:ahLst/>
              <a:cxnLst/>
              <a:rect r="r" b="b" t="t" l="l"/>
              <a:pathLst>
                <a:path h="10596025" w="21800821">
                  <a:moveTo>
                    <a:pt x="0" y="118784"/>
                  </a:moveTo>
                  <a:cubicBezTo>
                    <a:pt x="0" y="53158"/>
                    <a:pt x="49276" y="0"/>
                    <a:pt x="110109" y="0"/>
                  </a:cubicBezTo>
                  <a:lnTo>
                    <a:pt x="21690712" y="0"/>
                  </a:lnTo>
                  <a:cubicBezTo>
                    <a:pt x="21751545" y="0"/>
                    <a:pt x="21800821" y="53158"/>
                    <a:pt x="21800821" y="118784"/>
                  </a:cubicBezTo>
                  <a:lnTo>
                    <a:pt x="21800821" y="10477242"/>
                  </a:lnTo>
                  <a:cubicBezTo>
                    <a:pt x="21800821" y="10542867"/>
                    <a:pt x="21751545" y="10596025"/>
                    <a:pt x="21690712" y="10596025"/>
                  </a:cubicBezTo>
                  <a:lnTo>
                    <a:pt x="110109" y="10596025"/>
                  </a:lnTo>
                  <a:cubicBezTo>
                    <a:pt x="49276" y="10596025"/>
                    <a:pt x="0" y="10542867"/>
                    <a:pt x="0" y="10477242"/>
                  </a:cubicBezTo>
                  <a:close/>
                </a:path>
              </a:pathLst>
            </a:custGeom>
            <a:blipFill>
              <a:blip r:embed="rId4"/>
              <a:stretch>
                <a:fillRect l="-628" t="0" r="-628" b="0"/>
              </a:stretch>
            </a:blipFill>
            <a:ln w="28575" cap="sq">
              <a:solidFill>
                <a:srgbClr val="3FA79A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—  DASHBOARD INSIGHTS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3990320" cy="960120"/>
            <a:chOff x="0" y="0"/>
            <a:chExt cx="1865376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6537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6537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Insights From the Dashboards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59200" y="1069848"/>
            <a:ext cx="850392" cy="850392"/>
            <a:chOff x="0" y="0"/>
            <a:chExt cx="1133856" cy="1133856"/>
          </a:xfrm>
        </p:grpSpPr>
        <p:sp>
          <p:nvSpPr>
            <p:cNvPr name="Freeform 9" id="9" descr="icon_chart_dark.png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5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0595" y="2527935"/>
            <a:ext cx="7905750" cy="3242310"/>
            <a:chOff x="0" y="0"/>
            <a:chExt cx="10541000" cy="4323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44168" y="2921508"/>
            <a:ext cx="617220" cy="123444"/>
            <a:chOff x="0" y="0"/>
            <a:chExt cx="822960" cy="164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2960" cy="164592"/>
            </a:xfrm>
            <a:custGeom>
              <a:avLst/>
              <a:gdLst/>
              <a:ahLst/>
              <a:cxnLst/>
              <a:rect r="r" b="b" t="t" l="l"/>
              <a:pathLst>
                <a:path h="16459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44168" y="3223260"/>
            <a:ext cx="7118604" cy="548640"/>
            <a:chOff x="0" y="0"/>
            <a:chExt cx="9491472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Overview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44168" y="3840480"/>
            <a:ext cx="7118604" cy="1714500"/>
            <a:chOff x="0" y="0"/>
            <a:chExt cx="9491472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91472" cy="2286000"/>
            </a:xfrm>
            <a:custGeom>
              <a:avLst/>
              <a:gdLst/>
              <a:ahLst/>
              <a:cxnLst/>
              <a:rect r="r" b="b" t="t" l="l"/>
              <a:pathLst>
                <a:path h="228600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01" r="0" b="-3090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9491472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9"/>
                </a:lnSpc>
              </a:pPr>
              <a:r>
                <a:rPr lang="en-US" sz="17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market is dominated by AI Engineering roles (736 of 1,500 postings) and led by the USA (515 postings), with Hybrid the most common work arrangement.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85935" y="2527935"/>
            <a:ext cx="7905750" cy="3242310"/>
            <a:chOff x="0" y="0"/>
            <a:chExt cx="10541000" cy="4323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779508" y="2921508"/>
            <a:ext cx="617220" cy="123444"/>
            <a:chOff x="0" y="0"/>
            <a:chExt cx="822960" cy="164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960" cy="164592"/>
            </a:xfrm>
            <a:custGeom>
              <a:avLst/>
              <a:gdLst/>
              <a:ahLst/>
              <a:cxnLst/>
              <a:rect r="r" b="b" t="t" l="l"/>
              <a:pathLst>
                <a:path h="16459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8FBCB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79508" y="3223260"/>
            <a:ext cx="7118604" cy="548640"/>
            <a:chOff x="0" y="0"/>
            <a:chExt cx="9491472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Compensation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79508" y="3840480"/>
            <a:ext cx="7118604" cy="1714500"/>
            <a:chOff x="0" y="0"/>
            <a:chExt cx="9491472" cy="228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491472" cy="2286000"/>
            </a:xfrm>
            <a:custGeom>
              <a:avLst/>
              <a:gdLst/>
              <a:ahLst/>
              <a:cxnLst/>
              <a:rect r="r" b="b" t="t" l="l"/>
              <a:pathLst>
                <a:path h="228600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01" r="0" b="-309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9491472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9"/>
                </a:lnSpc>
              </a:pPr>
              <a:r>
                <a:rPr lang="en-US" sz="17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Salary rises sharply with seniority — from $150K at Entry level to $240K at Lead level — and Big Tech (FAANG+) pays roughly 42% more than Startups.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0595" y="6162675"/>
            <a:ext cx="7905750" cy="3242310"/>
            <a:chOff x="0" y="0"/>
            <a:chExt cx="10541000" cy="4323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44168" y="6556248"/>
            <a:ext cx="617220" cy="123444"/>
            <a:chOff x="0" y="0"/>
            <a:chExt cx="822960" cy="164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960" cy="164592"/>
            </a:xfrm>
            <a:custGeom>
              <a:avLst/>
              <a:gdLst/>
              <a:ahLst/>
              <a:cxnLst/>
              <a:rect r="r" b="b" t="t" l="l"/>
              <a:pathLst>
                <a:path h="16459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B6B6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44168" y="6858000"/>
            <a:ext cx="7118604" cy="548640"/>
            <a:chOff x="0" y="0"/>
            <a:chExt cx="9491472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Skills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44168" y="7475220"/>
            <a:ext cx="7118604" cy="1714500"/>
            <a:chOff x="0" y="0"/>
            <a:chExt cx="9491472" cy="2286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491472" cy="2286000"/>
            </a:xfrm>
            <a:custGeom>
              <a:avLst/>
              <a:gdLst/>
              <a:ahLst/>
              <a:cxnLst/>
              <a:rect r="r" b="b" t="t" l="l"/>
              <a:pathLst>
                <a:path h="228600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01" r="0" b="-309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9491472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9"/>
                </a:lnSpc>
              </a:pPr>
              <a:r>
                <a:rPr lang="en-US" sz="17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appears in 942 of 1,500 postings (63%), yet the highest-paying skills are specialized: System Design, Prompt Engineering and RAG all average $240K+.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85935" y="6162675"/>
            <a:ext cx="7905750" cy="3242310"/>
            <a:chOff x="0" y="0"/>
            <a:chExt cx="10541000" cy="4323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779508" y="6556248"/>
            <a:ext cx="617220" cy="123444"/>
            <a:chOff x="0" y="0"/>
            <a:chExt cx="822960" cy="164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2960" cy="164592"/>
            </a:xfrm>
            <a:custGeom>
              <a:avLst/>
              <a:gdLst/>
              <a:ahLst/>
              <a:cxnLst/>
              <a:rect r="r" b="b" t="t" l="l"/>
              <a:pathLst>
                <a:path h="16459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79508" y="6858000"/>
            <a:ext cx="7118604" cy="548640"/>
            <a:chOff x="0" y="0"/>
            <a:chExt cx="9491472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Demand &amp; Growth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79508" y="7475220"/>
            <a:ext cx="7118604" cy="1714500"/>
            <a:chOff x="0" y="0"/>
            <a:chExt cx="9491472" cy="2286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91472" cy="2286000"/>
            </a:xfrm>
            <a:custGeom>
              <a:avLst/>
              <a:gdLst/>
              <a:ahLst/>
              <a:cxnLst/>
              <a:rect r="r" b="b" t="t" l="l"/>
              <a:pathLst>
                <a:path h="228600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01" r="0" b="-309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9491472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9"/>
                </a:lnSpc>
              </a:pPr>
              <a:r>
                <a:rPr lang="en-US" sz="17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 Engineer is both the highest-demand (98/100) and among the highest-paid roles; LLM-related roles pay ~$16.4K more on average than non-LLM roles.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—  DASHBOARD INSIGHTS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116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Business Conclusions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527935"/>
            <a:ext cx="7905750" cy="3242310"/>
            <a:chOff x="0" y="0"/>
            <a:chExt cx="10541000" cy="4323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155F5E"/>
            </a:solidFill>
            <a:ln w="19050" cap="sq">
              <a:solidFill>
                <a:srgbClr val="2A316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44168" y="2894076"/>
            <a:ext cx="7118604" cy="548640"/>
            <a:chOff x="0" y="0"/>
            <a:chExt cx="9491472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Job Seekers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44168" y="3525012"/>
            <a:ext cx="7118604" cy="1988820"/>
            <a:chOff x="0" y="0"/>
            <a:chExt cx="9491472" cy="2651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91472" cy="2651760"/>
            </a:xfrm>
            <a:custGeom>
              <a:avLst/>
              <a:gdLst/>
              <a:ahLst/>
              <a:cxnLst/>
              <a:rect r="r" b="b" t="t" l="l"/>
              <a:pathLst>
                <a:path h="265176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42" r="0" b="-1974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9491472" cy="2756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DDE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Prioritize LLM, RAG and system-design skills — they carry both the highest demand and the strongest salary premiums in the current AI job market.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85935" y="2527935"/>
            <a:ext cx="7905750" cy="3242310"/>
            <a:chOff x="0" y="0"/>
            <a:chExt cx="10541000" cy="4323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155F5E"/>
            </a:solidFill>
            <a:ln w="19050" cap="sq">
              <a:solidFill>
                <a:srgbClr val="2A316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779508" y="2894076"/>
            <a:ext cx="7118604" cy="548640"/>
            <a:chOff x="0" y="0"/>
            <a:chExt cx="9491472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Recruiters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79508" y="3525012"/>
            <a:ext cx="7118604" cy="1988820"/>
            <a:chOff x="0" y="0"/>
            <a:chExt cx="9491472" cy="2651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91472" cy="2651760"/>
            </a:xfrm>
            <a:custGeom>
              <a:avLst/>
              <a:gdLst/>
              <a:ahLst/>
              <a:cxnLst/>
              <a:rect r="r" b="b" t="t" l="l"/>
              <a:pathLst>
                <a:path h="265176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42" r="0" b="-1974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9491472" cy="2756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DDE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Competitive offers should benchmark against Big Tech pay bands ($238K avg.); remote-friendly and hybrid roles now represent over 75% of postings.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0595" y="6162675"/>
            <a:ext cx="7905750" cy="3242310"/>
            <a:chOff x="0" y="0"/>
            <a:chExt cx="10541000" cy="4323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155F5E"/>
            </a:solidFill>
            <a:ln w="19050" cap="sq">
              <a:solidFill>
                <a:srgbClr val="2A316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44168" y="6528816"/>
            <a:ext cx="7118604" cy="548640"/>
            <a:chOff x="0" y="0"/>
            <a:chExt cx="9491472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Career Planners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4168" y="7159752"/>
            <a:ext cx="7118604" cy="1988820"/>
            <a:chOff x="0" y="0"/>
            <a:chExt cx="9491472" cy="2651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91472" cy="2651760"/>
            </a:xfrm>
            <a:custGeom>
              <a:avLst/>
              <a:gdLst/>
              <a:ahLst/>
              <a:cxnLst/>
              <a:rect r="r" b="b" t="t" l="l"/>
              <a:pathLst>
                <a:path h="265176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42" r="0" b="-197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9491472" cy="2756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DDE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Skill depth matters more than skill count — average skills per job stay flat (~6.3) across experience levels, but which skills you hold drives salary.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85935" y="6162675"/>
            <a:ext cx="7905750" cy="3242310"/>
            <a:chOff x="0" y="0"/>
            <a:chExt cx="10541000" cy="4323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155F5E"/>
            </a:solidFill>
            <a:ln w="19050" cap="sq">
              <a:solidFill>
                <a:srgbClr val="2A316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779508" y="6528816"/>
            <a:ext cx="7118604" cy="548640"/>
            <a:chOff x="0" y="0"/>
            <a:chExt cx="9491472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Market Analysts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79508" y="7159752"/>
            <a:ext cx="7118604" cy="1988820"/>
            <a:chOff x="0" y="0"/>
            <a:chExt cx="9491472" cy="26517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491472" cy="2651760"/>
            </a:xfrm>
            <a:custGeom>
              <a:avLst/>
              <a:gdLst/>
              <a:ahLst/>
              <a:cxnLst/>
              <a:rect r="r" b="b" t="t" l="l"/>
              <a:pathLst>
                <a:path h="265176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42" r="0" b="-1974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04775"/>
              <a:ext cx="9491472" cy="2756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DDE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LLM-related roles are the fastest-growing segment (demand score 98, +42.7% YoY for top titles) and command a clear salary premium over non-LLM roles.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01752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155F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27054" y="-1657826"/>
            <a:ext cx="6881812" cy="6881812"/>
            <a:chOff x="0" y="0"/>
            <a:chExt cx="9175750" cy="9175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75750" cy="9175750"/>
            </a:xfrm>
            <a:custGeom>
              <a:avLst/>
              <a:gdLst/>
              <a:ahLst/>
              <a:cxnLst/>
              <a:rect r="r" b="b" t="t" l="l"/>
              <a:pathLst>
                <a:path h="9175750" w="9175750">
                  <a:moveTo>
                    <a:pt x="0" y="4587875"/>
                  </a:moveTo>
                  <a:cubicBezTo>
                    <a:pt x="0" y="2054098"/>
                    <a:pt x="2054098" y="0"/>
                    <a:pt x="4587875" y="0"/>
                  </a:cubicBezTo>
                  <a:cubicBezTo>
                    <a:pt x="7121652" y="0"/>
                    <a:pt x="9175750" y="2054098"/>
                    <a:pt x="9175750" y="4587875"/>
                  </a:cubicBezTo>
                  <a:cubicBezTo>
                    <a:pt x="9175750" y="7121652"/>
                    <a:pt x="7121652" y="9175750"/>
                    <a:pt x="4587875" y="9175750"/>
                  </a:cubicBezTo>
                  <a:cubicBezTo>
                    <a:pt x="2054098" y="9175750"/>
                    <a:pt x="0" y="7121652"/>
                    <a:pt x="0" y="458787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3FA79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624334" y="-560546"/>
            <a:ext cx="4687253" cy="4687253"/>
            <a:chOff x="0" y="0"/>
            <a:chExt cx="6249670" cy="6249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49670" cy="6249670"/>
            </a:xfrm>
            <a:custGeom>
              <a:avLst/>
              <a:gdLst/>
              <a:ahLst/>
              <a:cxnLst/>
              <a:rect r="r" b="b" t="t" l="l"/>
              <a:pathLst>
                <a:path h="6249670" w="6249670">
                  <a:moveTo>
                    <a:pt x="0" y="3124835"/>
                  </a:moveTo>
                  <a:cubicBezTo>
                    <a:pt x="0" y="1399032"/>
                    <a:pt x="1399032" y="0"/>
                    <a:pt x="3124835" y="0"/>
                  </a:cubicBezTo>
                  <a:cubicBezTo>
                    <a:pt x="4850638" y="0"/>
                    <a:pt x="6249670" y="1399032"/>
                    <a:pt x="6249670" y="3124835"/>
                  </a:cubicBezTo>
                  <a:cubicBezTo>
                    <a:pt x="6249670" y="4850638"/>
                    <a:pt x="4850638" y="6249670"/>
                    <a:pt x="3124835" y="6249670"/>
                  </a:cubicBezTo>
                  <a:cubicBezTo>
                    <a:pt x="1399032" y="6249670"/>
                    <a:pt x="0" y="4850638"/>
                    <a:pt x="0" y="312483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8FBCB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3429000"/>
            <a:ext cx="12344400" cy="1508760"/>
            <a:chOff x="0" y="0"/>
            <a:chExt cx="1645920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3020" y="4869180"/>
            <a:ext cx="10972800" cy="685800"/>
            <a:chOff x="0" y="0"/>
            <a:chExt cx="14630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630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3020" y="5829300"/>
            <a:ext cx="754380" cy="82296"/>
            <a:chOff x="0" y="0"/>
            <a:chExt cx="1005840" cy="1097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109728"/>
            </a:xfrm>
            <a:custGeom>
              <a:avLst/>
              <a:gdLst/>
              <a:ahLst/>
              <a:cxnLst/>
              <a:rect r="r" b="b" t="t" l="l"/>
              <a:pathLst>
                <a:path h="109728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03020" y="6240780"/>
            <a:ext cx="10972800" cy="548640"/>
            <a:chOff x="0" y="0"/>
            <a:chExt cx="146304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FC9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— A Data-Driven Analysis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950440" y="7680960"/>
            <a:ext cx="2057400" cy="2057400"/>
            <a:chOff x="0" y="0"/>
            <a:chExt cx="2743200" cy="2743200"/>
          </a:xfrm>
        </p:grpSpPr>
        <p:sp>
          <p:nvSpPr>
            <p:cNvPr name="Freeform 20" id="20" descr="icon_robot.png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2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3020" y="8572500"/>
            <a:ext cx="9601200" cy="480060"/>
            <a:chOff x="0" y="0"/>
            <a:chExt cx="1280160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Noran Hatem  •  Aya Ayman  •  Dalia Khaled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03020" y="9025128"/>
            <a:ext cx="9601200" cy="480060"/>
            <a:chOff x="0" y="0"/>
            <a:chExt cx="1280160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Ziad Ashraf  •  Kirolos Ibrahim  •  Arwa Ahmed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03020" y="9573768"/>
            <a:ext cx="8229600" cy="480060"/>
            <a:chOff x="0" y="0"/>
            <a:chExt cx="109728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8FC9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by: Eng. Dina Mohsen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DAHST2xUnw8</dc:identifier>
  <dcterms:modified xsi:type="dcterms:W3CDTF">2011-08-01T06:04:30Z</dcterms:modified>
  <cp:revision>1</cp:revision>
  <dc:title>AI_Job_Market_Presentation.pptx</dc:title>
</cp:coreProperties>
</file>